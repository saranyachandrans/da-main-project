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2296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82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4366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1989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9541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8128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636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356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175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1545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40204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507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16206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5212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1611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3164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01093678"/>
      </p:ext>
    </p:extLst>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 id="2147484039" r:id="rId14"/>
    <p:sldLayoutId id="2147484040" r:id="rId15"/>
    <p:sldLayoutId id="214748404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Car Sales Analysis using Python</a:t>
            </a:r>
          </a:p>
        </p:txBody>
      </p:sp>
      <p:sp>
        <p:nvSpPr>
          <p:cNvPr id="3" name="Subtitle 2"/>
          <p:cNvSpPr>
            <a:spLocks noGrp="1"/>
          </p:cNvSpPr>
          <p:nvPr>
            <p:ph type="subTitle" idx="1"/>
          </p:nvPr>
        </p:nvSpPr>
        <p:spPr/>
        <p:txBody>
          <a:bodyPr>
            <a:normAutofit fontScale="70000" lnSpcReduction="20000"/>
          </a:bodyPr>
          <a:lstStyle/>
          <a:p>
            <a:pPr>
              <a:defRPr sz="2000"/>
            </a:pPr>
            <a:r>
              <a:rPr dirty="0"/>
              <a:t>Presented by: Saranya Chandran</a:t>
            </a:r>
            <a:r>
              <a:rPr lang="en-IN" dirty="0"/>
              <a:t> S</a:t>
            </a:r>
            <a:endParaRPr dirty="0"/>
          </a:p>
          <a:p>
            <a:pPr>
              <a:defRPr sz="2000"/>
            </a:pPr>
            <a:endParaRPr dirty="0"/>
          </a:p>
          <a:p>
            <a:pPr>
              <a:defRPr sz="2000"/>
            </a:pPr>
            <a:r>
              <a:rPr dirty="0"/>
              <a:t>This project analyzes 68,577 car sales records to understand the factors influencing vehicle prices and market trends using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Pr>
              <a:defRPr sz="2000"/>
            </a:pPr>
            <a:r>
              <a:t>• The automobile market generates large volumes of sales data.</a:t>
            </a:r>
          </a:p>
          <a:p>
            <a:pPr>
              <a:defRPr sz="2000"/>
            </a:pPr>
            <a:r>
              <a:t>• Analyzing this data helps buyers, sellers, and dealerships make informed decisions.</a:t>
            </a:r>
          </a:p>
          <a:p>
            <a:pPr>
              <a:defRPr sz="2000"/>
            </a:pPr>
            <a:r>
              <a:t>• This project uses Exploratory Data Analysis (EDA) to identify pricing patterns, customer preferences, and regional trends.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pPr>
              <a:defRPr sz="2000"/>
            </a:pPr>
            <a:r>
              <a:t>Vehicle prices vary based on multiple factors such as brand, age, mileage, ownership history, fuel type, transmission, accident history, and location. The objective is to discover which factors have the greatest impact on resale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pPr>
              <a:defRPr sz="2000"/>
            </a:pPr>
            <a:r>
              <a:t>• Perform data cleaning and preprocessing.</a:t>
            </a:r>
          </a:p>
          <a:p>
            <a:pPr>
              <a:defRPr sz="2000"/>
            </a:pPr>
            <a:r>
              <a:t>• Create new analytical features (Car Age, Price per KM, Age Mileage Index).</a:t>
            </a:r>
          </a:p>
          <a:p>
            <a:pPr>
              <a:defRPr sz="2000"/>
            </a:pPr>
            <a:r>
              <a:t>• Analyze trends using statistics and visualizations.</a:t>
            </a:r>
          </a:p>
          <a:p>
            <a:pPr>
              <a:defRPr sz="2000"/>
            </a:pPr>
            <a:r>
              <a:t>• Generate business recommendations.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p:txBody>
          <a:bodyPr/>
          <a:lstStyle/>
          <a:p>
            <a:pPr>
              <a:defRPr sz="2000"/>
            </a:pPr>
            <a:r>
              <a:t>• Total Records: 68,577</a:t>
            </a:r>
          </a:p>
          <a:p>
            <a:pPr>
              <a:defRPr sz="2000"/>
            </a:pPr>
            <a:r>
              <a:t>• Period: 2019–2023</a:t>
            </a:r>
          </a:p>
          <a:p>
            <a:pPr>
              <a:defRPr sz="2000"/>
            </a:pPr>
            <a:r>
              <a:t>• Key Variables: Brand, Model, Price, Year, Kilometers, Fuel Type, Transmission, Owner, State, Accident History.</a:t>
            </a:r>
          </a:p>
          <a:p>
            <a:pPr>
              <a:defRPr sz="2000"/>
            </a:pPr>
            <a:r>
              <a:t>• Covers both budget and premium vehicles.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a:t>
            </a:r>
          </a:p>
        </p:txBody>
      </p:sp>
      <p:sp>
        <p:nvSpPr>
          <p:cNvPr id="3" name="Content Placeholder 2"/>
          <p:cNvSpPr>
            <a:spLocks noGrp="1"/>
          </p:cNvSpPr>
          <p:nvPr>
            <p:ph idx="1"/>
          </p:nvPr>
        </p:nvSpPr>
        <p:spPr/>
        <p:txBody>
          <a:bodyPr/>
          <a:lstStyle/>
          <a:p>
            <a:pPr>
              <a:defRPr sz="2000"/>
            </a:pPr>
            <a:r>
              <a:t>• Checked data quality and summary statistics.</a:t>
            </a:r>
          </a:p>
          <a:p>
            <a:pPr>
              <a:defRPr sz="2000"/>
            </a:pPr>
            <a:r>
              <a:t>• Calculated Car Age from manufacturing year.</a:t>
            </a:r>
          </a:p>
          <a:p>
            <a:pPr>
              <a:defRPr sz="2000"/>
            </a:pPr>
            <a:r>
              <a:t>• Created Price per KM and Age Mileage Index.</a:t>
            </a:r>
          </a:p>
          <a:p>
            <a:pPr>
              <a:defRPr sz="2000"/>
            </a:pPr>
            <a:r>
              <a:t>• Detected outliers using the IQR method.</a:t>
            </a:r>
          </a:p>
          <a:p>
            <a:pPr>
              <a:defRPr sz="2000"/>
            </a:pPr>
            <a:r>
              <a:t>• Prepared the data for analysis and visualization.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a:t>
            </a:r>
          </a:p>
        </p:txBody>
      </p:sp>
      <p:sp>
        <p:nvSpPr>
          <p:cNvPr id="3" name="Content Placeholder 2"/>
          <p:cNvSpPr>
            <a:spLocks noGrp="1"/>
          </p:cNvSpPr>
          <p:nvPr>
            <p:ph idx="1"/>
          </p:nvPr>
        </p:nvSpPr>
        <p:spPr/>
        <p:txBody>
          <a:bodyPr>
            <a:normAutofit/>
          </a:bodyPr>
          <a:lstStyle/>
          <a:p>
            <a:pPr>
              <a:defRPr sz="2000"/>
            </a:pPr>
            <a:r>
              <a:t>EDA included:</a:t>
            </a:r>
          </a:p>
          <a:p>
            <a:pPr>
              <a:defRPr sz="2000"/>
            </a:pPr>
            <a:r>
              <a:t>• Price distribution</a:t>
            </a:r>
          </a:p>
          <a:p>
            <a:pPr>
              <a:defRPr sz="2000"/>
            </a:pPr>
            <a:r>
              <a:t>• Brand-wise price comparison</a:t>
            </a:r>
          </a:p>
          <a:p>
            <a:pPr>
              <a:defRPr sz="2000"/>
            </a:pPr>
            <a:r>
              <a:t>• Fuel type analysis</a:t>
            </a:r>
          </a:p>
          <a:p>
            <a:pPr>
              <a:defRPr sz="2000"/>
            </a:pPr>
            <a:r>
              <a:t>• Ownership analysis</a:t>
            </a:r>
          </a:p>
          <a:p>
            <a:pPr>
              <a:defRPr sz="2000"/>
            </a:pPr>
            <a:r>
              <a:t>• State-wise market share</a:t>
            </a:r>
          </a:p>
          <a:p>
            <a:pPr>
              <a:defRPr sz="2000"/>
            </a:pPr>
            <a:r>
              <a:t>• Correlation analysis</a:t>
            </a:r>
          </a:p>
          <a:p>
            <a:pPr>
              <a:defRPr sz="2000"/>
            </a:pPr>
            <a:r>
              <a:t>• Accident history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3" name="Content Placeholder 2"/>
          <p:cNvSpPr>
            <a:spLocks noGrp="1"/>
          </p:cNvSpPr>
          <p:nvPr>
            <p:ph idx="1"/>
          </p:nvPr>
        </p:nvSpPr>
        <p:spPr/>
        <p:txBody>
          <a:bodyPr/>
          <a:lstStyle/>
          <a:p>
            <a:pPr>
              <a:defRPr sz="2000"/>
            </a:pPr>
            <a:r>
              <a:t>• Average resale price is approximately ₹9.45 lakh.</a:t>
            </a:r>
          </a:p>
          <a:p>
            <a:pPr>
              <a:defRPr sz="2000"/>
            </a:pPr>
            <a:r>
              <a:t>• BMW, MG and Range Rover have the highest average resale prices.</a:t>
            </a:r>
          </a:p>
          <a:p>
            <a:pPr>
              <a:defRPr sz="2000"/>
            </a:pPr>
            <a:r>
              <a:t>• First-owner vehicles retain higher value than second-owner vehicles.</a:t>
            </a:r>
          </a:p>
          <a:p>
            <a:pPr>
              <a:defRPr sz="2000"/>
            </a:pPr>
            <a:r>
              <a:t>• Electric and hybrid vehicles show stronger value retention.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 Analysis</a:t>
            </a:r>
          </a:p>
        </p:txBody>
      </p:sp>
      <p:sp>
        <p:nvSpPr>
          <p:cNvPr id="3" name="Content Placeholder 2"/>
          <p:cNvSpPr>
            <a:spLocks noGrp="1"/>
          </p:cNvSpPr>
          <p:nvPr>
            <p:ph idx="1"/>
          </p:nvPr>
        </p:nvSpPr>
        <p:spPr/>
        <p:txBody>
          <a:bodyPr/>
          <a:lstStyle/>
          <a:p>
            <a:pPr>
              <a:defRPr sz="2000"/>
            </a:pPr>
            <a:r>
              <a:t>• Vehicle age has a negative relationship with resale price.</a:t>
            </a:r>
          </a:p>
          <a:p>
            <a:pPr>
              <a:defRPr sz="2000"/>
            </a:pPr>
            <a:r>
              <a:t>• Higher mileage generally reduces resale value.</a:t>
            </a:r>
          </a:p>
          <a:p>
            <a:pPr>
              <a:defRPr sz="2000"/>
            </a:pPr>
            <a:r>
              <a:t>• Age Mileage Index shows that older, heavily-used vehicles depreciate faster.</a:t>
            </a:r>
          </a:p>
          <a:p>
            <a:pPr>
              <a:defRPr sz="2000"/>
            </a:pPr>
            <a:r>
              <a:t>• Correlation analysis confirmed these relationships.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Regional &amp; Brand Insights</a:t>
            </a:r>
          </a:p>
        </p:txBody>
      </p:sp>
      <p:sp>
        <p:nvSpPr>
          <p:cNvPr id="3" name="Content Placeholder 2"/>
          <p:cNvSpPr>
            <a:spLocks noGrp="1"/>
          </p:cNvSpPr>
          <p:nvPr>
            <p:ph idx="1"/>
          </p:nvPr>
        </p:nvSpPr>
        <p:spPr/>
        <p:txBody>
          <a:bodyPr/>
          <a:lstStyle/>
          <a:p>
            <a:pPr>
              <a:defRPr sz="2000"/>
            </a:pPr>
            <a:r>
              <a:t>• Maharashtra, Delhi and Karnataka contribute the highest number of listings.</a:t>
            </a:r>
          </a:p>
          <a:p>
            <a:pPr>
              <a:defRPr sz="2000"/>
            </a:pPr>
            <a:r>
              <a:t>• Premium brands consistently maintain higher resale values.</a:t>
            </a:r>
          </a:p>
          <a:p>
            <a:pPr>
              <a:defRPr sz="2000"/>
            </a:pPr>
            <a:r>
              <a:t>• Market activity is concentrated in a few major states.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Recommendations</a:t>
            </a:r>
          </a:p>
        </p:txBody>
      </p:sp>
      <p:sp>
        <p:nvSpPr>
          <p:cNvPr id="3" name="Content Placeholder 2"/>
          <p:cNvSpPr>
            <a:spLocks noGrp="1"/>
          </p:cNvSpPr>
          <p:nvPr>
            <p:ph idx="1"/>
          </p:nvPr>
        </p:nvSpPr>
        <p:spPr/>
        <p:txBody>
          <a:bodyPr/>
          <a:lstStyle/>
          <a:p>
            <a:pPr>
              <a:defRPr sz="2000"/>
            </a:pPr>
            <a:r>
              <a:t>• Prefer first-owner, low-mileage vehicles.</a:t>
            </a:r>
          </a:p>
          <a:p>
            <a:pPr>
              <a:defRPr sz="2000"/>
            </a:pPr>
            <a:r>
              <a:t>• Maintain service records and vehicle condition.</a:t>
            </a:r>
          </a:p>
          <a:p>
            <a:pPr>
              <a:defRPr sz="2000"/>
            </a:pPr>
            <a:r>
              <a:t>• Focus on EV/Hybrid inventory as demand increases.</a:t>
            </a:r>
          </a:p>
          <a:p>
            <a:pPr>
              <a:defRPr sz="2000"/>
            </a:pPr>
            <a:r>
              <a:t>• Consider regional demand when planning inventory.</a:t>
            </a:r>
          </a:p>
          <a:p>
            <a:pPr>
              <a:defRPr sz="2000"/>
            </a:pPr>
            <a:r>
              <a:t>• Use predictive analytics for price estimation.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lstStyle/>
          <a:p>
            <a:pPr>
              <a:defRPr sz="2000"/>
            </a:pPr>
            <a:r>
              <a:t>• Build a machine learning model for price prediction.</a:t>
            </a:r>
          </a:p>
          <a:p>
            <a:pPr>
              <a:defRPr sz="2000"/>
            </a:pPr>
            <a:r>
              <a:t>• Develop an interactive Power BI/Tableau dashboard.</a:t>
            </a:r>
          </a:p>
          <a:p>
            <a:pPr>
              <a:defRPr sz="2000"/>
            </a:pPr>
            <a:r>
              <a:t>• Forecast market trends.</a:t>
            </a:r>
          </a:p>
          <a:p>
            <a:pPr>
              <a:defRPr sz="2000"/>
            </a:pPr>
            <a:r>
              <a:t>• Include additional variables such as service history and customer reviews.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000"/>
            </a:pPr>
            <a:r>
              <a:t>The analysis demonstrates that age, mileage, ownership, fuel type, accident history, brand, and location significantly influence vehicle prices. Data analytics provides actionable insights that support better pricing strategies and business decisions.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44A43-4AB9-E5E7-BEAE-F2B96B9BFDD8}"/>
              </a:ext>
            </a:extLst>
          </p:cNvPr>
          <p:cNvSpPr>
            <a:spLocks noGrp="1"/>
          </p:cNvSpPr>
          <p:nvPr>
            <p:ph type="title"/>
          </p:nvPr>
        </p:nvSpPr>
        <p:spPr>
          <a:xfrm>
            <a:off x="532615" y="2461657"/>
            <a:ext cx="8229600" cy="1143000"/>
          </a:xfrm>
        </p:spPr>
        <p:txBody>
          <a:bodyPr/>
          <a:lstStyle/>
          <a:p>
            <a:r>
              <a:rPr lang="en-IN" dirty="0"/>
              <a:t>Thank You</a:t>
            </a:r>
          </a:p>
        </p:txBody>
      </p:sp>
    </p:spTree>
    <p:extLst>
      <p:ext uri="{BB962C8B-B14F-4D97-AF65-F5344CB8AC3E}">
        <p14:creationId xmlns:p14="http://schemas.microsoft.com/office/powerpoint/2010/main" val="334261940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TotalTime>
  <Words>535</Words>
  <Application>Microsoft Office PowerPoint</Application>
  <PresentationFormat>On-screen Show (4:3)</PresentationFormat>
  <Paragraphs>63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Trebuchet MS</vt:lpstr>
      <vt:lpstr>Wingdings 3</vt:lpstr>
      <vt:lpstr>Facet</vt:lpstr>
      <vt:lpstr>Car Sales Analysis using Python</vt:lpstr>
      <vt:lpstr>Introduction</vt:lpstr>
      <vt:lpstr>Problem Statement</vt:lpstr>
      <vt:lpstr>Objectives</vt:lpstr>
      <vt:lpstr>Dataset Overview</vt:lpstr>
      <vt:lpstr>Data Preparation</vt:lpstr>
      <vt:lpstr>Exploratory Data Analysis</vt:lpstr>
      <vt:lpstr>Key Findings</vt:lpstr>
      <vt:lpstr>Relationship Analysis</vt:lpstr>
      <vt:lpstr>Regional &amp; Brand Insights</vt:lpstr>
      <vt:lpstr>Business Recommendations</vt:lpstr>
      <vt:lpstr>Future Scope</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Saranya</dc:creator>
  <cp:keywords/>
  <dc:description>generated using python-pptx</dc:description>
  <cp:lastModifiedBy>saranya chandran s</cp:lastModifiedBy>
  <cp:revision>2</cp:revision>
  <dcterms:created xsi:type="dcterms:W3CDTF">2013-01-27T09:14:16Z</dcterms:created>
  <dcterms:modified xsi:type="dcterms:W3CDTF">2026-06-30T07:37:45Z</dcterms:modified>
  <cp:category/>
</cp:coreProperties>
</file>